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97ae6a5d54984" /><Relationship Type="http://schemas.openxmlformats.org/officeDocument/2006/relationships/extended-properties" Target="/docProps/app.xml" Id="Rd2326741e4b8439e" /><Relationship Type="http://schemas.openxmlformats.org/officeDocument/2006/relationships/officeDocument" Target="/ppt/presentation.xml" Id="Rc3ef8d854947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58254ca6f48da"/>
  </p:sldMasterIdLst>
  <p:notesMasterIdLst>
    <p:notesMasterId xmlns:r="http://schemas.openxmlformats.org/officeDocument/2006/relationships" r:id="R30274eceb9864347"/>
  </p:notesMasterIdLst>
  <p:sldIdLst>
    <p:sldId xmlns:r="http://schemas.openxmlformats.org/officeDocument/2006/relationships" id="256" r:id="R06a76673ac3d4883"/>
    <p:sldId xmlns:r="http://schemas.openxmlformats.org/officeDocument/2006/relationships" id="257" r:id="R42df51ca025c43cb"/>
    <p:sldId xmlns:r="http://schemas.openxmlformats.org/officeDocument/2006/relationships" id="258" r:id="R57035ec395b64406"/>
    <p:sldId xmlns:r="http://schemas.openxmlformats.org/officeDocument/2006/relationships" id="259" r:id="R7748a02cdfee4dfa"/>
    <p:sldId xmlns:r="http://schemas.openxmlformats.org/officeDocument/2006/relationships" id="260" r:id="R32598ef9c7fa4b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c8877ca224ad6" /><Relationship Type="http://schemas.openxmlformats.org/officeDocument/2006/relationships/slideMaster" Target="/ppt/slideMasters/slideMaster1.xml" Id="R68358254ca6f48da" /><Relationship Type="http://schemas.openxmlformats.org/officeDocument/2006/relationships/notesMaster" Target="/ppt/notesMasters/notesMaster1.xml" Id="R30274eceb9864347" /><Relationship Type="http://schemas.openxmlformats.org/officeDocument/2006/relationships/presProps" Target="/ppt/presProps.xml" Id="Rfaf5527ce5964995" /><Relationship Type="http://schemas.openxmlformats.org/officeDocument/2006/relationships/tableStyles" Target="/ppt/tableStyles.xml" Id="R4ccf794428e24d50" /><Relationship Type="http://schemas.openxmlformats.org/officeDocument/2006/relationships/slide" Target="/ppt/slides/slide1.xml" Id="R06a76673ac3d4883" /><Relationship Type="http://schemas.openxmlformats.org/officeDocument/2006/relationships/slide" Target="/ppt/slides/slide2.xml" Id="R42df51ca025c43cb" /><Relationship Type="http://schemas.openxmlformats.org/officeDocument/2006/relationships/slide" Target="/ppt/slides/slide3.xml" Id="R57035ec395b64406" /><Relationship Type="http://schemas.openxmlformats.org/officeDocument/2006/relationships/slide" Target="/ppt/slides/slide4.xml" Id="R7748a02cdfee4dfa" /><Relationship Type="http://schemas.openxmlformats.org/officeDocument/2006/relationships/slide" Target="/ppt/slides/slide5.xml" Id="R32598ef9c7fa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cbc624d964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17252a77f4ce4" /><Relationship Type="http://schemas.openxmlformats.org/officeDocument/2006/relationships/notesMaster" Target="/ppt/notesMasters/notesMaster1.xml" Id="R743a3e9baa0c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04ecdef7b3467e" /><Relationship Type="http://schemas.openxmlformats.org/officeDocument/2006/relationships/notesMaster" Target="/ppt/notesMasters/notesMaster1.xml" Id="Rbf85a6235e7341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a9c5a6cb542c6" /><Relationship Type="http://schemas.openxmlformats.org/officeDocument/2006/relationships/notesMaster" Target="/ppt/notesMasters/notesMaster1.xml" Id="R9571cc5ce6b94a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b737d8b96e41c0" /><Relationship Type="http://schemas.openxmlformats.org/officeDocument/2006/relationships/notesMaster" Target="/ppt/notesMasters/notesMaster1.xml" Id="Rfeda610ba40248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d61eb3e9a4663" /><Relationship Type="http://schemas.openxmlformats.org/officeDocument/2006/relationships/notesMaster" Target="/ppt/notesMasters/notesMaster1.xml" Id="R4830da0c9c05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Termo de Abertura e Plano de Projeto - PMCE.pdf, versão 1.0, outubro de 2026. Páginas 1–2. Proposta em deliberação, sem aprovação ou impacto financeiro definidos.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Termo de Abertura e Plano de Projeto - PMCE.pdf, versão 1.0, outubro de 2026. Páginas 1–3. Benefícios esperados, sujeitos à validação.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Termo de Abertura e Plano de Projeto - PMCE.pdf, versão 1.0, outubro de 2026. Páginas 3–5. Gerente ainda a confirmar pelo patrocinador.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Termo de Abertura e Plano de Projeto - PMCE.pdf, versão 1.0, outubro de 2026. Páginas 2–4. Marcos relativos ao kick-off. M5 e calendário final a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Termo de Abertura e Plano de Projeto - PMCE.pdf, versão 1.0, outubro de 2026. Páginas 1 e 4–6. A estimativa não define um valor para a nova folha.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297ffd96f4c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b73ab699a4b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f4fde19a544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38f79ab4940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aa5db83724a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8b3b67fd94a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3FC002-FEBE-42DD-8764-9240A1102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7636D6-E88F-4782-981D-B0E02E5B9D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6F4E8A-98DF-458E-B0C6-AA6427EED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16EEAA-A10B-4C4C-8EBE-68489E2EF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838CA2-A2EF-4FA1-854C-9CF33C5D5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53D56D-6101-4355-9CFC-03191492E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D1DB74-9557-485E-B1D2-390909CCB3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151AF9-5797-4ED2-9845-FAB90D62F1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42F078-0553-410F-A7B2-264EEAF8F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CA230F-7F2B-4ADC-B971-88DB5D2A2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6c502e7bdd44a8" /><Relationship Type="http://schemas.openxmlformats.org/officeDocument/2006/relationships/slideLayout" Target="/ppt/slideLayouts/slideLayout1.xml" Id="R965ed4c82ef549ed" /><Relationship Type="http://schemas.openxmlformats.org/officeDocument/2006/relationships/slideLayout" Target="/ppt/slideLayouts/slideLayout2.xml" Id="R174e98398e004ca1" /><Relationship Type="http://schemas.openxmlformats.org/officeDocument/2006/relationships/slideLayout" Target="/ppt/slideLayouts/slideLayout3.xml" Id="R9713d2a28cd64ded" /><Relationship Type="http://schemas.openxmlformats.org/officeDocument/2006/relationships/slideLayout" Target="/ppt/slideLayouts/slideLayout4.xml" Id="Rf26dc36ebf414787" /><Relationship Type="http://schemas.openxmlformats.org/officeDocument/2006/relationships/slideLayout" Target="/ppt/slideLayouts/slideLayout5.xml" Id="R88715e88c94c447e" /><Relationship Type="http://schemas.openxmlformats.org/officeDocument/2006/relationships/slideLayout" Target="/ppt/slideLayouts/slideLayout6.xml" Id="R705aba77bf64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ed4c82ef549ed"/>
    <p:sldLayoutId xmlns:r="http://schemas.openxmlformats.org/officeDocument/2006/relationships" id="2147483650" r:id="R174e98398e004ca1"/>
    <p:sldLayoutId xmlns:r="http://schemas.openxmlformats.org/officeDocument/2006/relationships" id="2147483651" r:id="R9713d2a28cd64ded"/>
    <p:sldLayoutId xmlns:r="http://schemas.openxmlformats.org/officeDocument/2006/relationships" id="2147483652" r:id="Rf26dc36ebf414787"/>
    <p:sldLayoutId xmlns:r="http://schemas.openxmlformats.org/officeDocument/2006/relationships" id="2147483653" r:id="R88715e88c94c447e"/>
    <p:sldLayoutId xmlns:r="http://schemas.openxmlformats.org/officeDocument/2006/relationships" id="2147483654" r:id="R705aba77bf64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81c5f3c7d43a6" /><Relationship Type="http://schemas.openxmlformats.org/officeDocument/2006/relationships/notesSlide" Target="/ppt/notesSlides/notesSlide1.xml" Id="R7dc6d6a81b04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f5aab8ba24e29" /><Relationship Type="http://schemas.openxmlformats.org/officeDocument/2006/relationships/notesSlide" Target="/ppt/notesSlides/notesSlide2.xml" Id="R5f963fc15fe8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7257eb0be4a94" /><Relationship Type="http://schemas.openxmlformats.org/officeDocument/2006/relationships/notesSlide" Target="/ppt/notesSlides/notesSlide3.xml" Id="Ra2f1b83c2a7743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3d12db19d46ba" /><Relationship Type="http://schemas.openxmlformats.org/officeDocument/2006/relationships/notesSlide" Target="/ppt/notesSlides/notesSlide4.xml" Id="Rcc119fd1a1914e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10d92ca40481d" /><Relationship Type="http://schemas.openxmlformats.org/officeDocument/2006/relationships/notesSlide" Target="/ppt/notesSlides/notesSlide5.xml" Id="R706f876e92714f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E3B4727-BCCE-4E48-AFA1-0469B67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PMCE  /  REESTRUTURAÇÃO DE CARREIRAS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C21DEC-85AC-4CF0-B169-20126B5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Reservado / Estratégico Institucional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63BABC-E79C-4970-8D74-AE38F518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01 / 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53EB56B-4A09-4485-A44D-1247641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108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Reestruturação</a:t>
            </a:r>
          </a:p>
          <a:p xmlns:a="http://schemas.openxmlformats.org/drawingml/2006/main">
            <a:pPr>
              <a:def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das carreiras da PMCE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C3C76F-36ED-4784-9786-BE4836A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Sistema de carreiras e tabela salarial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4EFEE22-6EB8-4BE7-9A82-015FC19C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Termo de abertura e plano de projeto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3FE614-63F2-426A-BBAC-73C09A64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Proposta em deliberação  • 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956812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245A24C-832E-437E-9BBD-26BA6667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PMCE  /  REESTRUTURAÇÃO DE CARREIRAS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BABA62A-3F9C-4ABE-9C5E-64079AC8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Problema e proposta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7AF9A0-3B6A-49B0-A3C4-53CD40E0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Reservado / Estratégico Institucional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FBB80F-D021-4B18-BC81-7F90CD2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02 / 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A521B96-FB12-4363-9FF7-F5A1C87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O problema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256FCE6-115A-4CDC-9B1D-40C451A2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47625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Estagnação na carreira e gargalos de promoção.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Achatamento e sobreposição de faixas remuneratórias.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Pouco incentivo à formação contínua.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609357-5A64-4383-A95F-1D4C1D08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A proposta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D4156D3-0EC2-43CF-95D2-914CCD1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50958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Nova arquitetura de carreira e remuneração, com progressão sustentável e regras de transição para o efetivo ativo.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E085199-3083-47A2-AB9E-A25299C7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Benefícios esperados: previsibilidade funcional, valorização profissional e retenção de experiência.</a:t>
            </a:r>
          </a:p>
        </p:txBody>
      </p:sp>
    </p:spTree>
    <p:extLst>
      <p:ext uri="{BB962C8B-B14F-4D97-AF65-F5344CB8AC3E}">
        <p14:creationId xmlns:p14="http://schemas.microsoft.com/office/powerpoint/2010/main" val="229989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9CAC7006-1ED2-47EE-A779-FED193B6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PMCE  /  REESTRUTURAÇÃO DE CARREIRAS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2D10F4E-8A58-4764-8FA0-CA9A1261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Escopo e governança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651E7F-E10E-4D12-BFDF-581D570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Reservado / Estratégico Institucional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0B6205-5BBF-47AD-886B-BEF86A2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03 / 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596AF1-5B04-47AF-9C8B-54C072B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Entregas do projeto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00F04BA-0F56-4D2F-9E70-ABD3B647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E4253C-5DB5-4F70-A53B-AD10BB76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2415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Diagnóstico funcional e remuneratório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0C62B81-06D6-4CB1-B5EE-CBDE7255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37B4732-3BC0-4932-950A-E5AE94AF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9090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Cenários salariais e impacto plurianual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F16DF5D-11A7-4ADD-9893-62C8F0D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2845629-A2C1-48C9-9777-79CA939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5765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Minuta do PL e mensagem governativa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BA137DC-C560-4218-BFB3-3DFC1F0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FE4F8FB-F433-4E08-9324-AF08C80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2440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Transição dos ativos e comunicação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748D30C-7408-4E04-B259-0D99B05F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Responsabilidades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5C08B71-175E-4A86-B291-A36ADFB5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Patrocinador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Secretário da Segurança / Governador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Comitê diretivo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SSPDS, SEPLAG, SEFAZ, PGE e PMCE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Gerente e GT interinstitucional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Coordenação e execução técnica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0595D81-0323-4B5A-A88B-3C667F1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Fora do escopo: outras corporações, reajuste geral isolado e passivos retroativos.</a:t>
            </a:r>
          </a:p>
        </p:txBody>
      </p:sp>
    </p:spTree>
    <p:extLst>
      <p:ext uri="{BB962C8B-B14F-4D97-AF65-F5344CB8AC3E}">
        <p14:creationId xmlns:p14="http://schemas.microsoft.com/office/powerpoint/2010/main" val="36852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2B5CF222-CAFF-47CB-9CCE-03E50FB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PMCE  /  REESTRUTURAÇÃO DE CARREIRAS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A9F429-308A-484C-BDB4-84EB6AD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Cronograma executivo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3282FE-1D50-4823-9F9D-CA62025A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Reservado / Estratégico Institucional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104F0B-CADB-4AFE-9752-4A5EF21D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04 / 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D7D429-476E-472D-9322-41BDB3B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D627BA8-AA96-4B7F-A7D7-125F38F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Marco zero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CC5C456-A948-4F05-BAB3-6F4112AF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Aprovação do TAP e portaria do GT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0B1B239-9D13-4B25-A467-DF53539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955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385D61E-A9DC-435A-B616-A93A193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95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Mês 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E3772DD-D89B-43AE-BDEF-FF13FE3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955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Diagnóstico das distorções funcionais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30A48EE-0BF6-4D79-9C5D-9F1EF167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FFB4ED1-CB84-4CFC-BD54-4CB6E14C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Mês 4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0F94D1C-8EA5-439B-8776-7EBCF4FF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Validação fiscal pela SEFAZ / SEPLAG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A699279-03E6-4D15-ACE0-16A9635A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M4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5CDB471-FCBA-4AC3-BDCB-051275B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Mês 6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5887FCA-FFFE-4BCF-B50D-7E6A5822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576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Minuta do PL com parecer da PGE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D1FFE080-EF7B-4CFF-8C8C-9625EAE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M5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3955E4B-E592-44B3-9608-EB368926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A confirmar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4EF7BB1-23AB-49FF-8F65-FEFC6E3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386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Envio à Assembleia Legislativa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3DE34A0-F6F4-499E-871A-F629F139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M6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D216A8D-FE7B-4902-992C-872B4D8F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Meses 8–12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0F59DD8-A5F9-4E97-96FF-D87BC407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196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Sanção e início da transição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68645A9-BA7B-42E9-B353-F921EBBA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Duração estimada: 8 a 12 meses, condicionada às validações e à tramitação.</a:t>
            </a:r>
          </a:p>
        </p:txBody>
      </p:sp>
    </p:spTree>
    <p:extLst>
      <p:ext uri="{BB962C8B-B14F-4D97-AF65-F5344CB8AC3E}">
        <p14:creationId xmlns:p14="http://schemas.microsoft.com/office/powerpoint/2010/main" val="1795837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60CC36-DA49-4634-88C5-07F3C7E6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PMCE  /  REESTRUTURAÇÃO DE CARREIRAS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99334F-3A0B-4BAB-80D8-CE6C117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Decisões para iniciar o projeto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58824C-A17C-485C-B4BD-C587990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Reservado / Estratégico Institucional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6D9ABD-BC95-4BFD-9116-7DD3EB7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05 / 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529F7B2-CA08-42B0-A166-151F1F2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Deliberação do patrocinador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8F34256-AC82-425B-A043-1F37546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5381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Autorizar a abertura e aprovar o escopo.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Designar o gerente no kick-off.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Formalizar o GT em até 5 dias úteis.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B30"/>
                </a:solidFill>
                <a:latin typeface="DejaVu Sans"/>
                <a:ea typeface="DejaVu Sans"/>
                <a:cs typeface="DejaVu Sans"/>
              </a:rPr>
              <a:t>Definir o teto fiscal até o marco M2.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80AE51E-26E1-481E-8F49-679B673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35B43"/>
                </a:solidFill>
                <a:latin typeface="DejaVu Sans"/>
                <a:ea typeface="DejaVu Sans"/>
                <a:cs typeface="DejaVu Sans"/>
              </a:rPr>
              <a:t>Condições de execução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BC8514F-3FA0-4029-B35E-29E72110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762500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Impacto financeiro ainda a definir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Depende de simulação e validação fiscal.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Riscos críticos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Limite fiscal, comunicação interna e prazo legislativo.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Acompanhamento</a:t>
            </a:r>
          </a:p>
          <a:p xmlns:a="http://schemas.openxmlformats.org/drawingml/2006/main">
            <a:pPr>
              <a:def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2574F"/>
                </a:solidFill>
                <a:latin typeface="DejaVu Sans"/>
                <a:ea typeface="DejaVu Sans"/>
                <a:cs typeface="DejaVu Sans"/>
              </a:rPr>
              <a:t>Entregas, prazo/custo, margem LRF e pendências.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C9E566E-7582-4366-89EF-ED7F93EF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87C73"/>
                </a:solidFill>
                <a:latin typeface="DejaVu Sans"/>
                <a:ea typeface="DejaVu Sans"/>
                <a:cs typeface="DejaVu Sans"/>
              </a:rPr>
              <a:t>Possíveis deliberações: aprovar, aprovar com ressalvas, solicitar ajustes ou não autorizar.</a:t>
            </a:r>
          </a:p>
        </p:txBody>
      </p:sp>
    </p:spTree>
    <p:extLst>
      <p:ext uri="{BB962C8B-B14F-4D97-AF65-F5344CB8AC3E}">
        <p14:creationId xmlns:p14="http://schemas.microsoft.com/office/powerpoint/2010/main" val="648565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2026-10-23T11:57:49.5430000Z</dcterms:created>
  <dcterms:modified xsi:type="dcterms:W3CDTF">2026-10-23T11:57:49.5440000Z</dcterms:modified>
</coreProperties>
</file>